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sldIdLst>
    <p:sldId id="256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57" r:id="rId13"/>
    <p:sldId id="266" r:id="rId14"/>
    <p:sldId id="267" r:id="rId1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BA5E01-BA23-18E1-DCF6-E5C46CF236C7}" v="120" dt="2025-11-14T15:51:28.842"/>
    <p1510:client id="{4D5FD745-66A4-826D-CC6B-AD216AA2BB48}" v="26" dt="2025-11-14T11:10:54.366"/>
    <p1510:client id="{91104CAB-4683-05AE-3D9A-FEF41D8A1AFC}" v="46" dt="2025-11-14T15:50:03.976"/>
    <p1510:client id="{ABDB5723-FFAA-C02C-C158-10D6663CE098}" v="6" dt="2025-11-14T15:52:08.397"/>
    <p1510:client id="{BE1971C7-85DA-671A-5C03-87B2AA02E9C4}" v="107" dt="2025-11-14T15:42:34.450"/>
    <p1510:client id="{C548CB1D-32AD-4A01-B31C-AFC1760A5C6F}" v="35" dt="2025-11-14T15:51:35.086"/>
    <p1510:client id="{C89215D8-8C39-B47C-C02E-ACF192385A8C}" v="325" dt="2025-11-14T12:57:50.2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303316-AA6E-4B76-8E1D-D31856DD7BBD}" type="datetimeFigureOut"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EA0104-69CC-4E0E-A353-08C9AB0756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597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Firdaus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A0104-69CC-4E0E-A353-08C9AB0756C3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19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Wei Jie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A0104-69CC-4E0E-A353-08C9AB0756C3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715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Harish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A0104-69CC-4E0E-A353-08C9AB0756C3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232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: 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A0104-69CC-4E0E-A353-08C9AB0756C3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02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Moe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A0104-69CC-4E0E-A353-08C9AB0756C3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27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5F286C-DFCA-7C2F-7250-B611DB627810}"/>
              </a:ext>
            </a:extLst>
          </p:cNvPr>
          <p:cNvSpPr/>
          <p:nvPr userDrawn="1"/>
        </p:nvSpPr>
        <p:spPr>
          <a:xfrm>
            <a:off x="0" y="58793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395949-4A38-F4E0-1017-CE2B0CC31BFA}"/>
              </a:ext>
            </a:extLst>
          </p:cNvPr>
          <p:cNvSpPr/>
          <p:nvPr userDrawn="1"/>
        </p:nvSpPr>
        <p:spPr>
          <a:xfrm>
            <a:off x="0" y="587931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>
                <a:solidFill>
                  <a:schemeClr val="accent2">
                    <a:lumMod val="76000"/>
                  </a:schemeClr>
                </a:solidFill>
                <a:latin typeface="Bookman Old Style"/>
              </a:rPr>
              <a:t>CT2003 Team 5</a:t>
            </a:r>
            <a:endParaRPr lang="en-US">
              <a:solidFill>
                <a:schemeClr val="accent2">
                  <a:lumMod val="76000"/>
                </a:schemeClr>
              </a:solidFill>
              <a:latin typeface="Bookman Old Style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49616"/>
            <a:ext cx="9144000" cy="26249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2">
                    <a:lumMod val="76000"/>
                  </a:schemeClr>
                </a:solidFill>
              </a:rPr>
              <a:t>LWIN MOE OO</a:t>
            </a:r>
            <a:endParaRPr lang="en-US">
              <a:solidFill>
                <a:schemeClr val="accent2">
                  <a:lumMod val="76000"/>
                </a:schemeClr>
              </a:solidFill>
            </a:endParaRPr>
          </a:p>
          <a:p>
            <a:pPr marL="342900" indent="-342900" algn="l">
              <a:buChar char="•"/>
            </a:pPr>
            <a:r>
              <a:rPr lang="en-GB">
                <a:solidFill>
                  <a:schemeClr val="accent2">
                    <a:lumMod val="76000"/>
                  </a:schemeClr>
                </a:solidFill>
                <a:ea typeface="+mn-lt"/>
                <a:cs typeface="+mn-lt"/>
              </a:rPr>
              <a:t>MUHAMMAD FIRDAUS BIN KAMARUDIN</a:t>
            </a:r>
          </a:p>
          <a:p>
            <a:pPr marL="342900" indent="-342900" algn="l">
              <a:buChar char="•"/>
            </a:pPr>
            <a:r>
              <a:rPr lang="en-GB">
                <a:solidFill>
                  <a:schemeClr val="accent2">
                    <a:lumMod val="76000"/>
                  </a:schemeClr>
                </a:solidFill>
                <a:ea typeface="+mn-lt"/>
                <a:cs typeface="+mn-lt"/>
              </a:rPr>
              <a:t>MURPHY WONG KAH LEONG</a:t>
            </a:r>
          </a:p>
          <a:p>
            <a:pPr marL="342900" indent="-342900" algn="l">
              <a:buChar char="•"/>
            </a:pPr>
            <a:r>
              <a:rPr lang="en-GB">
                <a:solidFill>
                  <a:schemeClr val="accent2">
                    <a:lumMod val="76000"/>
                  </a:schemeClr>
                </a:solidFill>
                <a:ea typeface="+mn-lt"/>
                <a:cs typeface="+mn-lt"/>
              </a:rPr>
              <a:t>PANG WEI JIE</a:t>
            </a:r>
          </a:p>
          <a:p>
            <a:pPr marL="342900" indent="-342900" algn="l">
              <a:buChar char="•"/>
            </a:pPr>
            <a:r>
              <a:rPr lang="en-GB">
                <a:solidFill>
                  <a:schemeClr val="accent2">
                    <a:lumMod val="76000"/>
                  </a:schemeClr>
                </a:solidFill>
                <a:ea typeface="+mn-lt"/>
                <a:cs typeface="+mn-lt"/>
              </a:rPr>
              <a:t>PAZHANISAMY HARISH PRABHU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08F4A-FC08-BA83-1DBF-AB7710D33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81" y="139347"/>
            <a:ext cx="10515600" cy="1325563"/>
          </a:xfrm>
        </p:spPr>
        <p:txBody>
          <a:bodyPr>
            <a:normAutofit/>
          </a:bodyPr>
          <a:lstStyle/>
          <a:p>
            <a:r>
              <a:rPr lang="en-GB" b="1"/>
              <a:t>Activity Diagram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48D0F77-D87C-D055-A873-4DAB901181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anchor="ctr">
            <a:normAutofit/>
          </a:bodyPr>
          <a:lstStyle/>
          <a:p>
            <a:r>
              <a:rPr lang="en-US" sz="1800"/>
              <a:t>Text Goes here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44CE58-4E65-E0B0-6254-CCCFB0EE1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43090" y="1825625"/>
            <a:ext cx="4525671" cy="44077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SG" sz="2400"/>
              <a:t>Main activity flow of the program</a:t>
            </a:r>
          </a:p>
          <a:p>
            <a:r>
              <a:rPr lang="en-SG" sz="2400"/>
              <a:t>Covers all user types and respective tasks</a:t>
            </a:r>
          </a:p>
          <a:p>
            <a:r>
              <a:rPr lang="en-SG" sz="2400"/>
              <a:t>Handles alternative paths and error checking</a:t>
            </a:r>
          </a:p>
        </p:txBody>
      </p:sp>
      <p:pic>
        <p:nvPicPr>
          <p:cNvPr id="4" name="Content Placeholder 3" descr="A diagram of a flowchart&#10;&#10;AI-generated content may be incorrect.">
            <a:extLst>
              <a:ext uri="{FF2B5EF4-FFF2-40B4-BE49-F238E27FC236}">
                <a16:creationId xmlns:a16="http://schemas.microsoft.com/office/drawing/2014/main" id="{FA9CCE84-F783-D51B-F8C5-F843704F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3682"/>
          <a:stretch>
            <a:fillRect/>
          </a:stretch>
        </p:blipFill>
        <p:spPr>
          <a:xfrm>
            <a:off x="429768" y="1721922"/>
            <a:ext cx="6704891" cy="45205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8934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E2258-735F-20D4-C43E-BA76C7458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864BF-ACBB-23D5-B3AE-21F901E6E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052" y="139347"/>
            <a:ext cx="10515600" cy="1325563"/>
          </a:xfrm>
        </p:spPr>
        <p:txBody>
          <a:bodyPr/>
          <a:lstStyle/>
          <a:p>
            <a:r>
              <a:rPr lang="en-GB" b="1"/>
              <a:t>Class Diagram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53184F-6190-5D19-33CF-43374C24C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07176" y="1221338"/>
            <a:ext cx="458644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SG" sz="2400"/>
              <a:t>Implemented superclass and subclasses</a:t>
            </a:r>
          </a:p>
          <a:p>
            <a:r>
              <a:rPr lang="en-SG" sz="2400"/>
              <a:t>Defines relationship between each classes</a:t>
            </a:r>
          </a:p>
          <a:p>
            <a:r>
              <a:rPr lang="en-SG" sz="2400"/>
              <a:t>Implemented Enum classes for easy interpretation for different status</a:t>
            </a:r>
          </a:p>
          <a:p>
            <a:r>
              <a:rPr lang="en-SG" sz="2400"/>
              <a:t>Using interfaces and implement concrete classes</a:t>
            </a:r>
          </a:p>
        </p:txBody>
      </p:sp>
      <p:pic>
        <p:nvPicPr>
          <p:cNvPr id="5" name="Content Placeholder 4" descr="A diagram of a company&#10;&#10;AI-generated content may be incorrect.">
            <a:extLst>
              <a:ext uri="{FF2B5EF4-FFF2-40B4-BE49-F238E27FC236}">
                <a16:creationId xmlns:a16="http://schemas.microsoft.com/office/drawing/2014/main" id="{F540DBB2-2EF1-B7DD-6270-087B913C277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99789" y="1223865"/>
            <a:ext cx="6893489" cy="51477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7418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55141-53C6-65F2-8B08-4033BF808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1A561-3594-859A-EFB9-DFD47EFB4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67" y="148755"/>
            <a:ext cx="10515600" cy="1325563"/>
          </a:xfrm>
        </p:spPr>
        <p:txBody>
          <a:bodyPr/>
          <a:lstStyle/>
          <a:p>
            <a:r>
              <a:rPr lang="en-GB" b="1"/>
              <a:t>Single Responsibility Principle (SRP)</a:t>
            </a:r>
          </a:p>
        </p:txBody>
      </p:sp>
      <p:pic>
        <p:nvPicPr>
          <p:cNvPr id="6" name="Content Placeholder 5" descr="A blue box with black text&#10;&#10;AI-generated content may be incorrect.">
            <a:extLst>
              <a:ext uri="{FF2B5EF4-FFF2-40B4-BE49-F238E27FC236}">
                <a16:creationId xmlns:a16="http://schemas.microsoft.com/office/drawing/2014/main" id="{0EBAC5FA-08C4-6A86-6B2C-5C62C023B8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3611" t="5290" r="124" b="1007"/>
          <a:stretch>
            <a:fillRect/>
          </a:stretch>
        </p:blipFill>
        <p:spPr>
          <a:xfrm>
            <a:off x="1250442" y="1483457"/>
            <a:ext cx="4414708" cy="212707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0FF736-8C72-DC2C-F0D4-7D55C464B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4896" y="1483277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SG" sz="2400" dirty="0"/>
              <a:t>Each class will only focus on one main task</a:t>
            </a:r>
          </a:p>
          <a:p>
            <a:r>
              <a:rPr lang="en-SG" sz="2400" dirty="0"/>
              <a:t>Only have one reasons for modification</a:t>
            </a:r>
          </a:p>
          <a:p>
            <a:r>
              <a:rPr lang="en-SG" sz="2400" dirty="0"/>
              <a:t>E.g. </a:t>
            </a:r>
            <a:r>
              <a:rPr lang="en-SG" sz="2400" dirty="0" err="1"/>
              <a:t>InternshipFilter</a:t>
            </a:r>
          </a:p>
          <a:p>
            <a:endParaRPr lang="en-SG" sz="2400"/>
          </a:p>
        </p:txBody>
      </p:sp>
      <p:pic>
        <p:nvPicPr>
          <p:cNvPr id="7" name="Picture 6" descr="A diagram of a program&#10;&#10;AI-generated content may be incorrect.">
            <a:extLst>
              <a:ext uri="{FF2B5EF4-FFF2-40B4-BE49-F238E27FC236}">
                <a16:creationId xmlns:a16="http://schemas.microsoft.com/office/drawing/2014/main" id="{E25CA0FA-5429-744D-806D-5A6B2F54F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621" y="3776268"/>
            <a:ext cx="4422815" cy="295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68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03449F-AE9F-A6FD-FB76-AF234E13B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5779-5683-AA40-93FB-4719B6EEF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81" y="167569"/>
            <a:ext cx="10515600" cy="1325563"/>
          </a:xfrm>
        </p:spPr>
        <p:txBody>
          <a:bodyPr/>
          <a:lstStyle/>
          <a:p>
            <a:r>
              <a:rPr lang="en-GB" b="1"/>
              <a:t>Opened/Closed Principle (OCP)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EB4D8A-7185-BB8C-869D-37F826C0C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78349" y="1490803"/>
            <a:ext cx="4070799" cy="519636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SG" sz="1800" b="1">
                <a:ea typeface="+mn-lt"/>
                <a:cs typeface="+mn-lt"/>
              </a:rPr>
              <a:t>Closed for Modification:</a:t>
            </a:r>
            <a:r>
              <a:rPr lang="en-SG" sz="1800">
                <a:ea typeface="+mn-lt"/>
                <a:cs typeface="+mn-lt"/>
              </a:rPr>
              <a:t> </a:t>
            </a:r>
            <a:endParaRPr lang="en-US" sz="18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SG" sz="1800">
                <a:ea typeface="+mn-lt"/>
                <a:cs typeface="+mn-lt"/>
              </a:rPr>
              <a:t>The </a:t>
            </a:r>
            <a:r>
              <a:rPr lang="en-SG" sz="1800" err="1">
                <a:latin typeface="Consolas"/>
                <a:ea typeface="+mn-lt"/>
                <a:cs typeface="+mn-lt"/>
              </a:rPr>
              <a:t>UserController</a:t>
            </a:r>
            <a:r>
              <a:rPr lang="en-SG" sz="1800">
                <a:ea typeface="+mn-lt"/>
                <a:cs typeface="+mn-lt"/>
              </a:rPr>
              <a:t> abstract class defines a stable contract that doesn't change.</a:t>
            </a:r>
            <a:endParaRPr lang="en-US" sz="1800"/>
          </a:p>
          <a:p>
            <a:r>
              <a:rPr lang="en-SG" sz="1800" b="1">
                <a:ea typeface="+mn-lt"/>
                <a:cs typeface="+mn-lt"/>
              </a:rPr>
              <a:t>Open for Extension:</a:t>
            </a:r>
            <a:r>
              <a:rPr lang="en-SG" sz="1800">
                <a:ea typeface="+mn-lt"/>
                <a:cs typeface="+mn-lt"/>
              </a:rPr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SG" sz="1800">
                <a:ea typeface="+mn-lt"/>
                <a:cs typeface="+mn-lt"/>
              </a:rPr>
              <a:t>Each user type (</a:t>
            </a:r>
            <a:r>
              <a:rPr lang="en-SG" sz="1800" err="1">
                <a:latin typeface="Consolas"/>
                <a:ea typeface="+mn-lt"/>
                <a:cs typeface="+mn-lt"/>
              </a:rPr>
              <a:t>StudentController</a:t>
            </a:r>
            <a:r>
              <a:rPr lang="en-SG" sz="1800">
                <a:ea typeface="+mn-lt"/>
                <a:cs typeface="+mn-lt"/>
              </a:rPr>
              <a:t>, </a:t>
            </a:r>
            <a:r>
              <a:rPr lang="en-SG" sz="1800" err="1">
                <a:latin typeface="Consolas"/>
              </a:rPr>
              <a:t>StaffController</a:t>
            </a:r>
            <a:r>
              <a:rPr lang="en-SG" sz="1800">
                <a:ea typeface="+mn-lt"/>
                <a:cs typeface="+mn-lt"/>
              </a:rPr>
              <a:t>) extends the base class with its own specific </a:t>
            </a:r>
            <a:r>
              <a:rPr lang="en-SG" sz="1800" err="1">
                <a:ea typeface="+mn-lt"/>
                <a:cs typeface="+mn-lt"/>
              </a:rPr>
              <a:t>behavior</a:t>
            </a:r>
            <a:r>
              <a:rPr lang="en-SG" sz="1800">
                <a:ea typeface="+mn-lt"/>
                <a:cs typeface="+mn-lt"/>
              </a:rPr>
              <a:t>.</a:t>
            </a:r>
            <a:endParaRPr lang="en-US" sz="1800">
              <a:ea typeface="+mn-lt"/>
              <a:cs typeface="+mn-lt"/>
            </a:endParaRPr>
          </a:p>
          <a:p>
            <a:r>
              <a:rPr lang="en-SG" sz="1800" b="1">
                <a:ea typeface="+mn-lt"/>
                <a:cs typeface="+mn-lt"/>
              </a:rPr>
              <a:t>OCP in Action:</a:t>
            </a:r>
            <a:r>
              <a:rPr lang="en-SG" sz="1800">
                <a:ea typeface="+mn-lt"/>
                <a:cs typeface="+mn-lt"/>
              </a:rPr>
              <a:t>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SG" sz="1800">
                <a:ea typeface="+mn-lt"/>
                <a:cs typeface="+mn-lt"/>
              </a:rPr>
              <a:t>A new user type (like </a:t>
            </a:r>
            <a:r>
              <a:rPr lang="en-SG" sz="1800" err="1">
                <a:latin typeface="Consolas"/>
              </a:rPr>
              <a:t>AdminController</a:t>
            </a:r>
            <a:r>
              <a:rPr lang="en-SG" sz="1800">
                <a:ea typeface="+mn-lt"/>
                <a:cs typeface="+mn-lt"/>
              </a:rPr>
              <a:t>) is added as a </a:t>
            </a:r>
            <a:r>
              <a:rPr lang="en-SG" sz="1800" i="1">
                <a:ea typeface="+mn-lt"/>
                <a:cs typeface="+mn-lt"/>
              </a:rPr>
              <a:t>new</a:t>
            </a:r>
            <a:r>
              <a:rPr lang="en-SG" sz="1800">
                <a:ea typeface="+mn-lt"/>
                <a:cs typeface="+mn-lt"/>
              </a:rPr>
              <a:t> class, not an </a:t>
            </a:r>
            <a:r>
              <a:rPr lang="en-SG" sz="1800" i="1">
                <a:ea typeface="+mn-lt"/>
                <a:cs typeface="+mn-lt"/>
              </a:rPr>
              <a:t>edit</a:t>
            </a:r>
            <a:r>
              <a:rPr lang="en-SG" sz="1800">
                <a:ea typeface="+mn-lt"/>
                <a:cs typeface="+mn-lt"/>
              </a:rPr>
              <a:t> to existing code.</a:t>
            </a:r>
          </a:p>
          <a:p>
            <a:endParaRPr lang="en-SG" sz="1800"/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0A7392A-ACB9-CE9E-6CD6-6C4056B1983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15692" y="1679190"/>
            <a:ext cx="5181600" cy="1751189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D077B96-3FEA-556D-33D2-DA7A1C9FE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259" y="3934309"/>
            <a:ext cx="6324923" cy="70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14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4AE2D-BBCD-9F46-35BD-CC578D42E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D3138-89EB-57BB-2ABB-116125B8B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422" y="158162"/>
            <a:ext cx="10515600" cy="1325563"/>
          </a:xfrm>
        </p:spPr>
        <p:txBody>
          <a:bodyPr/>
          <a:lstStyle/>
          <a:p>
            <a:r>
              <a:rPr lang="en-GB" b="1" err="1"/>
              <a:t>Liskov</a:t>
            </a:r>
            <a:r>
              <a:rPr lang="en-GB" b="1"/>
              <a:t> Substitution Principle (LSP)</a:t>
            </a:r>
          </a:p>
        </p:txBody>
      </p:sp>
      <p:pic>
        <p:nvPicPr>
          <p:cNvPr id="3" name="Content Placeholder 2" descr="A diagram of a computer&#10;&#10;AI-generated content may be incorrect.">
            <a:extLst>
              <a:ext uri="{FF2B5EF4-FFF2-40B4-BE49-F238E27FC236}">
                <a16:creationId xmlns:a16="http://schemas.microsoft.com/office/drawing/2014/main" id="{ECF32245-771B-6201-D219-516F28A0632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18455" y="1893798"/>
            <a:ext cx="5756328" cy="2716823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530C0E-3F57-A88D-4925-2F34FD021BF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SG" sz="1600" b="1">
                <a:ea typeface="+mn-lt"/>
                <a:cs typeface="+mn-lt"/>
              </a:rPr>
              <a:t>True Substitutability:</a:t>
            </a:r>
            <a:r>
              <a:rPr lang="en-SG" sz="1600">
                <a:ea typeface="+mn-lt"/>
                <a:cs typeface="+mn-lt"/>
              </a:rPr>
              <a:t> </a:t>
            </a:r>
          </a:p>
          <a:p>
            <a:pPr lvl="1"/>
            <a:r>
              <a:rPr lang="en-SG" sz="1600">
                <a:ea typeface="+mn-lt"/>
                <a:cs typeface="+mn-lt"/>
              </a:rPr>
              <a:t>Any code designed to work with a superclass object (e.g., a </a:t>
            </a:r>
            <a:r>
              <a:rPr lang="en-SG" sz="1600">
                <a:latin typeface="Consolas"/>
              </a:rPr>
              <a:t>User</a:t>
            </a:r>
            <a:r>
              <a:rPr lang="en-SG" sz="1600">
                <a:ea typeface="+mn-lt"/>
                <a:cs typeface="+mn-lt"/>
              </a:rPr>
              <a:t> object) must also work perfectly if it's given a subclass object (e.g., a </a:t>
            </a:r>
            <a:r>
              <a:rPr lang="en-SG" sz="1600">
                <a:latin typeface="Consolas"/>
              </a:rPr>
              <a:t>Student</a:t>
            </a:r>
            <a:r>
              <a:rPr lang="en-SG" sz="1600">
                <a:ea typeface="+mn-lt"/>
                <a:cs typeface="+mn-lt"/>
              </a:rPr>
              <a:t> or </a:t>
            </a:r>
            <a:r>
              <a:rPr lang="en-SG" sz="1600" err="1">
                <a:latin typeface="Consolas"/>
              </a:rPr>
              <a:t>CompanyRep</a:t>
            </a:r>
            <a:r>
              <a:rPr lang="en-SG" sz="1600">
                <a:ea typeface="+mn-lt"/>
                <a:cs typeface="+mn-lt"/>
              </a:rPr>
              <a:t>) instead.</a:t>
            </a:r>
            <a:endParaRPr lang="en-US" sz="1600">
              <a:ea typeface="+mn-lt"/>
              <a:cs typeface="+mn-lt"/>
            </a:endParaRPr>
          </a:p>
          <a:p>
            <a:r>
              <a:rPr lang="en-SG" sz="1600" b="1" err="1">
                <a:ea typeface="+mn-lt"/>
                <a:cs typeface="+mn-lt"/>
              </a:rPr>
              <a:t>Behavioral</a:t>
            </a:r>
            <a:r>
              <a:rPr lang="en-SG" sz="1600" b="1">
                <a:ea typeface="+mn-lt"/>
                <a:cs typeface="+mn-lt"/>
              </a:rPr>
              <a:t> Consistency:</a:t>
            </a:r>
            <a:r>
              <a:rPr lang="en-SG" sz="1600">
                <a:ea typeface="+mn-lt"/>
                <a:cs typeface="+mn-lt"/>
              </a:rPr>
              <a:t> The subclass must </a:t>
            </a:r>
            <a:r>
              <a:rPr lang="en-SG" sz="1600" err="1">
                <a:ea typeface="+mn-lt"/>
                <a:cs typeface="+mn-lt"/>
              </a:rPr>
              <a:t>honor</a:t>
            </a:r>
            <a:r>
              <a:rPr lang="en-SG" sz="1600">
                <a:ea typeface="+mn-lt"/>
                <a:cs typeface="+mn-lt"/>
              </a:rPr>
              <a:t> the "contract" and expected </a:t>
            </a:r>
            <a:r>
              <a:rPr lang="en-SG" sz="1600" err="1">
                <a:ea typeface="+mn-lt"/>
                <a:cs typeface="+mn-lt"/>
              </a:rPr>
              <a:t>behavior</a:t>
            </a:r>
            <a:r>
              <a:rPr lang="en-SG" sz="1600">
                <a:ea typeface="+mn-lt"/>
                <a:cs typeface="+mn-lt"/>
              </a:rPr>
              <a:t> of its superclass.</a:t>
            </a:r>
            <a:endParaRPr lang="en-SG" sz="1600"/>
          </a:p>
          <a:p>
            <a:pPr lvl="1"/>
            <a:r>
              <a:rPr lang="en-SG" sz="1600">
                <a:ea typeface="+mn-lt"/>
                <a:cs typeface="+mn-lt"/>
              </a:rPr>
              <a:t>It can </a:t>
            </a:r>
            <a:r>
              <a:rPr lang="en-SG" sz="1600" b="1">
                <a:ea typeface="+mn-lt"/>
                <a:cs typeface="+mn-lt"/>
              </a:rPr>
              <a:t>add</a:t>
            </a:r>
            <a:r>
              <a:rPr lang="en-SG" sz="1600">
                <a:ea typeface="+mn-lt"/>
                <a:cs typeface="+mn-lt"/>
              </a:rPr>
              <a:t> new methods and properties (like </a:t>
            </a:r>
            <a:r>
              <a:rPr lang="en-SG" sz="1600">
                <a:latin typeface="Consolas"/>
              </a:rPr>
              <a:t>Student</a:t>
            </a:r>
            <a:r>
              <a:rPr lang="en-SG" sz="1600">
                <a:ea typeface="+mn-lt"/>
                <a:cs typeface="+mn-lt"/>
              </a:rPr>
              <a:t> adding </a:t>
            </a:r>
            <a:r>
              <a:rPr lang="en-SG" sz="1600">
                <a:latin typeface="Consolas"/>
              </a:rPr>
              <a:t>major</a:t>
            </a:r>
            <a:r>
              <a:rPr lang="en-SG" sz="1600">
                <a:ea typeface="+mn-lt"/>
                <a:cs typeface="+mn-lt"/>
              </a:rPr>
              <a:t>).</a:t>
            </a:r>
            <a:endParaRPr lang="en-SG" sz="1600"/>
          </a:p>
          <a:p>
            <a:pPr lvl="1"/>
            <a:r>
              <a:rPr lang="en-SG" sz="1600">
                <a:ea typeface="+mn-lt"/>
                <a:cs typeface="+mn-lt"/>
              </a:rPr>
              <a:t>It </a:t>
            </a:r>
            <a:r>
              <a:rPr lang="en-SG" sz="1600" b="1">
                <a:ea typeface="+mn-lt"/>
                <a:cs typeface="+mn-lt"/>
              </a:rPr>
              <a:t>cannot change</a:t>
            </a:r>
            <a:r>
              <a:rPr lang="en-SG" sz="1600">
                <a:ea typeface="+mn-lt"/>
                <a:cs typeface="+mn-lt"/>
              </a:rPr>
              <a:t> the fundamental </a:t>
            </a:r>
            <a:r>
              <a:rPr lang="en-SG" sz="1600" err="1">
                <a:ea typeface="+mn-lt"/>
                <a:cs typeface="+mn-lt"/>
              </a:rPr>
              <a:t>behavior</a:t>
            </a:r>
            <a:r>
              <a:rPr lang="en-SG" sz="1600">
                <a:ea typeface="+mn-lt"/>
                <a:cs typeface="+mn-lt"/>
              </a:rPr>
              <a:t> of the original methods (like </a:t>
            </a:r>
            <a:r>
              <a:rPr lang="en-SG" sz="1600">
                <a:latin typeface="Consolas"/>
              </a:rPr>
              <a:t>login()</a:t>
            </a:r>
            <a:r>
              <a:rPr lang="en-SG" sz="1600">
                <a:ea typeface="+mn-lt"/>
                <a:cs typeface="+mn-lt"/>
              </a:rPr>
              <a:t> or </a:t>
            </a:r>
            <a:r>
              <a:rPr lang="en-SG" sz="1600" err="1">
                <a:latin typeface="Consolas"/>
              </a:rPr>
              <a:t>changePassword</a:t>
            </a:r>
            <a:r>
              <a:rPr lang="en-SG" sz="1600">
                <a:latin typeface="Consolas"/>
              </a:rPr>
              <a:t>()</a:t>
            </a:r>
            <a:r>
              <a:rPr lang="en-SG" sz="1600">
                <a:ea typeface="+mn-lt"/>
                <a:cs typeface="+mn-lt"/>
              </a:rPr>
              <a:t>).</a:t>
            </a:r>
            <a:endParaRPr lang="en-SG" sz="1600"/>
          </a:p>
          <a:p>
            <a:r>
              <a:rPr lang="en-SG" sz="1600" b="1">
                <a:ea typeface="+mn-lt"/>
                <a:cs typeface="+mn-lt"/>
              </a:rPr>
              <a:t>No Surprises:</a:t>
            </a:r>
            <a:r>
              <a:rPr lang="en-SG" sz="1600">
                <a:ea typeface="+mn-lt"/>
                <a:cs typeface="+mn-lt"/>
              </a:rPr>
              <a:t> A subclass shouldn't cause new, unexpected side effects or errors. For example, if </a:t>
            </a:r>
            <a:r>
              <a:rPr lang="en-SG" sz="1600" err="1">
                <a:latin typeface="Consolas"/>
              </a:rPr>
              <a:t>User.changePassword</a:t>
            </a:r>
            <a:r>
              <a:rPr lang="en-SG" sz="1600">
                <a:latin typeface="Consolas"/>
              </a:rPr>
              <a:t>()</a:t>
            </a:r>
            <a:r>
              <a:rPr lang="en-SG" sz="1600">
                <a:ea typeface="+mn-lt"/>
                <a:cs typeface="+mn-lt"/>
              </a:rPr>
              <a:t> just changes the password, the </a:t>
            </a:r>
            <a:r>
              <a:rPr lang="en-SG" sz="1600" err="1">
                <a:latin typeface="Consolas"/>
              </a:rPr>
              <a:t>Student.changePassword</a:t>
            </a:r>
            <a:r>
              <a:rPr lang="en-SG" sz="1600">
                <a:latin typeface="Consolas"/>
              </a:rPr>
              <a:t>()</a:t>
            </a:r>
            <a:r>
              <a:rPr lang="en-SG" sz="1600">
                <a:ea typeface="+mn-lt"/>
                <a:cs typeface="+mn-lt"/>
              </a:rPr>
              <a:t> method shouldn't </a:t>
            </a:r>
            <a:r>
              <a:rPr lang="en-SG" sz="1600" i="1">
                <a:ea typeface="+mn-lt"/>
                <a:cs typeface="+mn-lt"/>
              </a:rPr>
              <a:t>also</a:t>
            </a:r>
            <a:r>
              <a:rPr lang="en-SG" sz="1600">
                <a:ea typeface="+mn-lt"/>
                <a:cs typeface="+mn-lt"/>
              </a:rPr>
              <a:t> send an email to a professor, as that would be a "surprising" </a:t>
            </a:r>
            <a:r>
              <a:rPr lang="en-SG" sz="1600" err="1">
                <a:ea typeface="+mn-lt"/>
                <a:cs typeface="+mn-lt"/>
              </a:rPr>
              <a:t>behavior</a:t>
            </a:r>
            <a:r>
              <a:rPr lang="en-SG" sz="1600">
                <a:ea typeface="+mn-lt"/>
                <a:cs typeface="+mn-lt"/>
              </a:rPr>
              <a:t> the original code didn't expect.</a:t>
            </a:r>
            <a:endParaRPr lang="en-SG" sz="1600"/>
          </a:p>
          <a:p>
            <a:endParaRPr lang="en-SG" sz="2400"/>
          </a:p>
        </p:txBody>
      </p:sp>
    </p:spTree>
    <p:extLst>
      <p:ext uri="{BB962C8B-B14F-4D97-AF65-F5344CB8AC3E}">
        <p14:creationId xmlns:p14="http://schemas.microsoft.com/office/powerpoint/2010/main" val="3750020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87732E-FF75-0EF5-0109-EABBA237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A9AEF-873B-144E-EBE0-6528719D2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139347"/>
            <a:ext cx="10515600" cy="1325563"/>
          </a:xfrm>
        </p:spPr>
        <p:txBody>
          <a:bodyPr/>
          <a:lstStyle/>
          <a:p>
            <a:r>
              <a:rPr lang="en-GB" b="1"/>
              <a:t>Interface Segregation Principle (ISP)</a:t>
            </a:r>
          </a:p>
        </p:txBody>
      </p:sp>
      <p:pic>
        <p:nvPicPr>
          <p:cNvPr id="3" name="Content Placeholder 2" descr="A blue box with black text&#10;&#10;AI-generated content may be incorrect.">
            <a:extLst>
              <a:ext uri="{FF2B5EF4-FFF2-40B4-BE49-F238E27FC236}">
                <a16:creationId xmlns:a16="http://schemas.microsoft.com/office/drawing/2014/main" id="{C6263184-BBFC-730F-6BA9-C875CA087BA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09714" y="1824194"/>
            <a:ext cx="5181600" cy="1491357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7177D4-E785-218D-9157-2BFA68A326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SG" sz="2400" dirty="0"/>
              <a:t>Before:</a:t>
            </a:r>
            <a:r>
              <a:rPr lang="en-SG" sz="2400" dirty="0">
                <a:latin typeface="Aptos"/>
                <a:cs typeface="Times New Roman"/>
              </a:rPr>
              <a:t> Classes implementing </a:t>
            </a:r>
            <a:r>
              <a:rPr lang="en-SG" sz="2400" dirty="0" err="1">
                <a:latin typeface="Aptos"/>
                <a:cs typeface="Times New Roman"/>
              </a:rPr>
              <a:t>CSVRepository</a:t>
            </a:r>
            <a:r>
              <a:rPr lang="en-SG" sz="2400" dirty="0">
                <a:latin typeface="Aptos"/>
                <a:cs typeface="Times New Roman"/>
              </a:rPr>
              <a:t> will have to handle all 4 methods when using it. This forces implementing classes to include methods that we may not need, hence violating ISP.</a:t>
            </a:r>
            <a:endParaRPr lang="en-SG" sz="2400" dirty="0">
              <a:latin typeface="Aptos"/>
            </a:endParaRPr>
          </a:p>
          <a:p>
            <a:r>
              <a:rPr lang="en-SG" sz="2400" dirty="0">
                <a:latin typeface="Aptos"/>
                <a:cs typeface="Times New Roman"/>
              </a:rPr>
              <a:t>After: The proposed design changes refactor it into 2 separate interfaces: 1 to handle internship and the other to handle internship applications. This enforces each class only have depends on the method it is using, which aligns with ISP.</a:t>
            </a:r>
          </a:p>
          <a:p>
            <a:r>
              <a:rPr lang="en-SG" sz="2600" dirty="0"/>
              <a:t>E.g. </a:t>
            </a:r>
            <a:r>
              <a:rPr lang="en-SG" sz="2600" dirty="0" err="1"/>
              <a:t>CSVRepository</a:t>
            </a:r>
          </a:p>
        </p:txBody>
      </p:sp>
      <p:pic>
        <p:nvPicPr>
          <p:cNvPr id="7" name="Picture 6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EAA8AC98-2316-2B42-8A90-0A470CE17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533" y="4121476"/>
            <a:ext cx="5355721" cy="123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233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28AEF0-A32F-8276-D4C8-E3BF4E281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EEBF8-4966-1AA3-F6EB-0A5CD2A50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385" y="120532"/>
            <a:ext cx="10515600" cy="1325563"/>
          </a:xfrm>
        </p:spPr>
        <p:txBody>
          <a:bodyPr/>
          <a:lstStyle/>
          <a:p>
            <a:r>
              <a:rPr lang="en-GB" b="1"/>
              <a:t>Dependency Inversion Principle (DIP)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CA29D8-BA1B-4FAC-19A7-9A257880D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8557" y="4570913"/>
            <a:ext cx="10901816" cy="228454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SG" sz="1800" b="1">
                <a:ea typeface="+mn-lt"/>
                <a:cs typeface="+mn-lt"/>
              </a:rPr>
              <a:t>High-level depends on Abstraction:</a:t>
            </a:r>
            <a:r>
              <a:rPr lang="en-SG" sz="1800">
                <a:ea typeface="+mn-lt"/>
                <a:cs typeface="+mn-lt"/>
              </a:rPr>
              <a:t> </a:t>
            </a:r>
            <a:r>
              <a:rPr lang="en-SG" sz="1800" b="1" i="1" err="1">
                <a:latin typeface="Consolas"/>
              </a:rPr>
              <a:t>CreateInternshipAction</a:t>
            </a:r>
            <a:r>
              <a:rPr lang="en-SG" sz="1800">
                <a:ea typeface="+mn-lt"/>
                <a:cs typeface="+mn-lt"/>
              </a:rPr>
              <a:t> (high-level) depends on the </a:t>
            </a:r>
            <a:r>
              <a:rPr lang="en-SG" sz="1800" b="1" i="1">
                <a:latin typeface="Consolas"/>
              </a:rPr>
              <a:t>InternshipCsvRepository</a:t>
            </a:r>
            <a:r>
              <a:rPr lang="en-SG" sz="1800">
                <a:ea typeface="+mn-lt"/>
                <a:cs typeface="+mn-lt"/>
              </a:rPr>
              <a:t> interface, not a concrete class.</a:t>
            </a:r>
            <a:endParaRPr lang="en-US" sz="1800"/>
          </a:p>
          <a:p>
            <a:r>
              <a:rPr lang="en-SG" sz="1800" b="1">
                <a:ea typeface="+mn-lt"/>
                <a:cs typeface="+mn-lt"/>
              </a:rPr>
              <a:t>Low-level depends on Abstraction:</a:t>
            </a:r>
            <a:r>
              <a:rPr lang="en-SG" sz="1800">
                <a:ea typeface="+mn-lt"/>
                <a:cs typeface="+mn-lt"/>
              </a:rPr>
              <a:t> </a:t>
            </a:r>
            <a:r>
              <a:rPr lang="en-SG" sz="1800" b="1" i="1" err="1">
                <a:latin typeface="Consolas"/>
              </a:rPr>
              <a:t>CsvFileBoundary</a:t>
            </a:r>
            <a:r>
              <a:rPr lang="en-SG" sz="1800">
                <a:ea typeface="+mn-lt"/>
                <a:cs typeface="+mn-lt"/>
              </a:rPr>
              <a:t> (low-level) implements the </a:t>
            </a:r>
            <a:r>
              <a:rPr lang="en-SG" sz="1800" b="1" i="1" err="1">
                <a:latin typeface="Consolas"/>
              </a:rPr>
              <a:t>CsvRepository</a:t>
            </a:r>
            <a:r>
              <a:rPr lang="en-SG" sz="1800">
                <a:ea typeface="+mn-lt"/>
                <a:cs typeface="+mn-lt"/>
              </a:rPr>
              <a:t> interface, fulfilling the abstraction.</a:t>
            </a:r>
            <a:endParaRPr lang="en-SG" sz="1800"/>
          </a:p>
          <a:p>
            <a:r>
              <a:rPr lang="en-SG" sz="1800" b="1">
                <a:ea typeface="+mn-lt"/>
                <a:cs typeface="+mn-lt"/>
              </a:rPr>
              <a:t>Enables Inversion of Control:</a:t>
            </a:r>
            <a:r>
              <a:rPr lang="en-SG" sz="1800">
                <a:ea typeface="+mn-lt"/>
                <a:cs typeface="+mn-lt"/>
              </a:rPr>
              <a:t> The dependency is "injected," allowing </a:t>
            </a:r>
            <a:r>
              <a:rPr lang="en-SG" sz="1800" b="1" i="1" err="1">
                <a:latin typeface="Consolas"/>
              </a:rPr>
              <a:t>CsvFileBoundary</a:t>
            </a:r>
            <a:r>
              <a:rPr lang="en-SG" sz="1800">
                <a:ea typeface="+mn-lt"/>
                <a:cs typeface="+mn-lt"/>
              </a:rPr>
              <a:t> to be swapped out (e.g., for testing) without changing </a:t>
            </a:r>
            <a:r>
              <a:rPr lang="en-SG" sz="1800" b="1" i="1" err="1">
                <a:latin typeface="Consolas"/>
              </a:rPr>
              <a:t>CreateInternshipAction</a:t>
            </a:r>
            <a:r>
              <a:rPr lang="en-SG" sz="1800">
                <a:ea typeface="+mn-lt"/>
                <a:cs typeface="+mn-lt"/>
              </a:rPr>
              <a:t>.</a:t>
            </a:r>
            <a:endParaRPr lang="en-SG" sz="1800"/>
          </a:p>
          <a:p>
            <a:endParaRPr lang="en-SG" sz="2400"/>
          </a:p>
        </p:txBody>
      </p:sp>
      <p:pic>
        <p:nvPicPr>
          <p:cNvPr id="6" name="Content Placeholder 5" descr="Text Box 2, Textbox">
            <a:extLst>
              <a:ext uri="{FF2B5EF4-FFF2-40B4-BE49-F238E27FC236}">
                <a16:creationId xmlns:a16="http://schemas.microsoft.com/office/drawing/2014/main" id="{03C84618-CF57-75F3-0D0B-60BBBC360A2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940453" y="1529556"/>
            <a:ext cx="4752975" cy="371475"/>
          </a:xfrm>
          <a:prstGeom prst="rect">
            <a:avLst/>
          </a:prstGeom>
        </p:spPr>
      </p:pic>
      <p:pic>
        <p:nvPicPr>
          <p:cNvPr id="7" name="Picture 6" descr="Text Box 2, Textbox">
            <a:extLst>
              <a:ext uri="{FF2B5EF4-FFF2-40B4-BE49-F238E27FC236}">
                <a16:creationId xmlns:a16="http://schemas.microsoft.com/office/drawing/2014/main" id="{105B33BC-AEF2-0242-01E0-35118351F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453" y="2039190"/>
            <a:ext cx="4752975" cy="314325"/>
          </a:xfrm>
          <a:prstGeom prst="rect">
            <a:avLst/>
          </a:prstGeom>
        </p:spPr>
      </p:pic>
      <p:pic>
        <p:nvPicPr>
          <p:cNvPr id="10" name="Picture 9" descr="Text Box 2, Textbox">
            <a:extLst>
              <a:ext uri="{FF2B5EF4-FFF2-40B4-BE49-F238E27FC236}">
                <a16:creationId xmlns:a16="http://schemas.microsoft.com/office/drawing/2014/main" id="{BEBE4ACC-665A-8BD3-BF74-F41342CE41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723" y="3845019"/>
            <a:ext cx="4772025" cy="333375"/>
          </a:xfrm>
          <a:prstGeom prst="rect">
            <a:avLst/>
          </a:prstGeom>
        </p:spPr>
      </p:pic>
      <p:pic>
        <p:nvPicPr>
          <p:cNvPr id="3" name="Picture 2" descr="A close up of a computer screen&#10;&#10;AI-generated content may be incorrect.">
            <a:extLst>
              <a:ext uri="{FF2B5EF4-FFF2-40B4-BE49-F238E27FC236}">
                <a16:creationId xmlns:a16="http://schemas.microsoft.com/office/drawing/2014/main" id="{0D01EC61-CF9B-8E6F-09B7-2E5824822D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553" y="2673457"/>
            <a:ext cx="4292385" cy="99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205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85A69-0D73-CC89-DF32-40F5C382B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713" y="2764652"/>
            <a:ext cx="3838414" cy="1325563"/>
          </a:xfrm>
        </p:spPr>
        <p:txBody>
          <a:bodyPr>
            <a:noAutofit/>
          </a:bodyPr>
          <a:lstStyle/>
          <a:p>
            <a:pPr algn="ctr"/>
            <a:r>
              <a:rPr lang="en-GB" sz="9600" b="1" dirty="0"/>
              <a:t>Demo </a:t>
            </a:r>
            <a:r>
              <a:rPr lang="en-GB" sz="9600" b="1"/>
              <a:t>Time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2703079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FB315A-02D0-380E-5AA9-8DA526464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14937-612D-1CD1-A57E-3B06954B7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237" y="120532"/>
            <a:ext cx="10515600" cy="1325563"/>
          </a:xfrm>
        </p:spPr>
        <p:txBody>
          <a:bodyPr/>
          <a:lstStyle/>
          <a:p>
            <a:r>
              <a:rPr lang="en-GB" b="1"/>
              <a:t>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F900A-0613-36DB-094C-4B844857B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/>
              <a:t>Planning starts from designing class diagrams</a:t>
            </a:r>
          </a:p>
          <a:p>
            <a:r>
              <a:rPr lang="en-GB" sz="2400"/>
              <a:t>Distributed implementation tasks among members</a:t>
            </a:r>
          </a:p>
          <a:p>
            <a:r>
              <a:rPr lang="en-GB" sz="2400"/>
              <a:t>Held regular meetings for discussion </a:t>
            </a:r>
          </a:p>
          <a:p>
            <a:r>
              <a:rPr lang="en-GB" sz="2400"/>
              <a:t>Learnt to apply SOLID principles for future maintainability</a:t>
            </a:r>
          </a:p>
          <a:p>
            <a:r>
              <a:rPr lang="en-GB" sz="2400"/>
              <a:t>Create detailed documentation for reference</a:t>
            </a:r>
          </a:p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919294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062FA-AB51-B3CA-5DB0-943C3DC53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30" y="129940"/>
            <a:ext cx="10515600" cy="1325563"/>
          </a:xfrm>
        </p:spPr>
        <p:txBody>
          <a:bodyPr/>
          <a:lstStyle/>
          <a:p>
            <a:r>
              <a:rPr lang="en-US" b="1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F7102-9A28-B8D3-E3F7-55B25A7D3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938145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DD99E5DF6F3E4EA11E66D70FEDD31F" ma:contentTypeVersion="3" ma:contentTypeDescription="Create a new document." ma:contentTypeScope="" ma:versionID="8e44e50413f5a9286bfbc832ff4f1e3b">
  <xsd:schema xmlns:xsd="http://www.w3.org/2001/XMLSchema" xmlns:xs="http://www.w3.org/2001/XMLSchema" xmlns:p="http://schemas.microsoft.com/office/2006/metadata/properties" xmlns:ns2="ecd37fb1-0de9-44e4-a3a0-252775a9645a" targetNamespace="http://schemas.microsoft.com/office/2006/metadata/properties" ma:root="true" ma:fieldsID="c04cfc9d6f86c16a8a8f41a737f1abde" ns2:_="">
    <xsd:import namespace="ecd37fb1-0de9-44e4-a3a0-252775a964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d37fb1-0de9-44e4-a3a0-252775a964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710FCE7-B94E-41EF-A5F6-21C5D4F74528}">
  <ds:schemaRefs>
    <ds:schemaRef ds:uri="ecd37fb1-0de9-44e4-a3a0-252775a9645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1A67560-4608-45A7-952E-E2E72544D2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785919-F101-4734-909A-6357895C5A3D}">
  <ds:schemaRefs>
    <ds:schemaRef ds:uri="ecd37fb1-0de9-44e4-a3a0-252775a964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CT2003 Team 5</vt:lpstr>
      <vt:lpstr>Activity Diagram</vt:lpstr>
      <vt:lpstr>Class Diagram</vt:lpstr>
      <vt:lpstr>Single Responsibility Principle (SRP)</vt:lpstr>
      <vt:lpstr>Opened/Closed Principle (OCP)</vt:lpstr>
      <vt:lpstr>Liskov Substitution Principle (LSP)</vt:lpstr>
      <vt:lpstr>Interface Segregation Principle (ISP)</vt:lpstr>
      <vt:lpstr>Dependency Inversion Principle (DIP)</vt:lpstr>
      <vt:lpstr>Demo Time</vt:lpstr>
      <vt:lpstr>Reflection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128</cp:revision>
  <dcterms:created xsi:type="dcterms:W3CDTF">2025-11-08T12:33:21Z</dcterms:created>
  <dcterms:modified xsi:type="dcterms:W3CDTF">2025-11-14T15:52:48Z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0x010100FEDD99E5DF6F3E4EA11E66D70FEDD31F</vt:lpwstr>
  </property>
</Properties>
</file>